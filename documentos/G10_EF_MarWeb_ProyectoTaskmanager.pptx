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E3E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3E56B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DESARROLLO WEB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de Proyecto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MANAGER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Tareas con Spring Boot, Spring Security y JWT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Alberto Vizcarra Rodriguez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370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N.º 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193792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Morales Bueno, Herbert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Espinoza Navarro, Leyla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Garcia Huaman, Jose Gabriel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Quispe Gamarra, Luis Alberto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– Perú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188720"/>
          </a:xfrm>
          <a:prstGeom prst="roundRect">
            <a:avLst>
              <a:gd name="adj" fmla="val 6923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1109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11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2585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el código del sistema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074920" cy="1188720"/>
          </a:xfrm>
          <a:prstGeom prst="roundRect">
            <a:avLst>
              <a:gd name="adj" fmla="val 6923"/>
            </a:avLst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6336792" y="191109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911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874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22585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Tablas, relaciones y entidades JPA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074920" cy="1188720"/>
          </a:xfrm>
          <a:prstGeom prst="roundRect">
            <a:avLst>
              <a:gd name="adj" fmla="val 6923"/>
            </a:avLst>
          </a:prstGeom>
          <a:solidFill>
            <a:srgbClr val="F5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32841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328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291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CRUD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6758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listar, editar y eliminar tareas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3108960"/>
            <a:ext cx="5074920" cy="1188720"/>
          </a:xfrm>
          <a:prstGeom prst="roundRect">
            <a:avLst>
              <a:gd name="adj" fmla="val 6923"/>
            </a:avLst>
          </a:prstGeom>
          <a:solidFill>
            <a:srgbClr val="F5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332841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3328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3291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del código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6758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Fragmentos reales del proyecto, comentados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5074920" cy="1188720"/>
          </a:xfrm>
          <a:prstGeom prst="roundRect">
            <a:avLst>
              <a:gd name="adj" fmla="val 6923"/>
            </a:avLst>
          </a:prstGeom>
          <a:solidFill>
            <a:srgbClr val="F5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474573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745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45920" y="47091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JWT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45920" y="509320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6, roles y autenticación stateless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4526280"/>
            <a:ext cx="5074920" cy="1188720"/>
          </a:xfrm>
          <a:prstGeom prst="roundRect">
            <a:avLst>
              <a:gd name="adj" fmla="val 6923"/>
            </a:avLst>
          </a:prstGeom>
          <a:solidFill>
            <a:srgbClr val="F5F7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336792" y="474573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36792" y="4745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78040" y="47091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509320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poner el sistema en marcha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resolvemos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PrymEvolution gestionaba las tareas de su equipo en hojas de cálculo manuales.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acceso: cualquiera podía ver o editar el trabajo de otro colaborador.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en tiempo real del avance ni estadísticas del estado del equipo.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Duplicidad de información y dificultad para que la administración supervise el trabajo global.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86600" y="1783080"/>
            <a:ext cx="452628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52360" y="24231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web centralizado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52360" y="3291840"/>
            <a:ext cx="3886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segura por usuario (JWT + BCrypt)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ve solo sus propias tareas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con métricas globales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responsiva accesible desde cualquier dispositivo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en capas (MVC)</a:t>
            </a:r>
            <a:endParaRPr lang="en-US" sz="3000" dirty="0"/>
          </a:p>
        </p:txBody>
      </p:sp>
      <p:pic>
        <p:nvPicPr>
          <p:cNvPr id="4" name="Image 0" descr="/sessions/confident-bold-pasteur/mnt/outputs/ppt/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649224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69480" y="17373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Thymeleaf renderizadas en el servidor, con Bootstrap 5.3.3 para el diseño responsivo.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269480" y="278892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las peticiones HTTP, valida datos y decide qué vista o redirección devolver.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269480" y="38404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las reglas de negocio entre el controlador y el acceso a datos.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69480" y="48920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JPA: consultas generadas automáticamente a partir del nombre del método.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UTILIZADAS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1546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backend, servidor Tomcat embebido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6552" y="17830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2039112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72584" y="27889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2584" y="31546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autorización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84464" y="17830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0496" y="2039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40496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0496" y="27889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0.12.6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0496" y="31546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y validación de tokens firmados HS256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87952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" y="49377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530352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datos vía Spring Data JPA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16552" y="39319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41879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72584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72584" y="49377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72584" y="530352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plantillas server-side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84464" y="39319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0496" y="4187952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1" name="Text 29"/>
          <p:cNvSpPr/>
          <p:nvPr/>
        </p:nvSpPr>
        <p:spPr>
          <a:xfrm>
            <a:off x="8540496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540496" y="49377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5.3.3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40496" y="530352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responsiva + Font Awesome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Entidad-Relación</a:t>
            </a:r>
            <a:endParaRPr lang="en-US" sz="3000" dirty="0"/>
          </a:p>
        </p:txBody>
      </p:sp>
      <p:pic>
        <p:nvPicPr>
          <p:cNvPr id="4" name="Image 0" descr="/sessions/confident-bold-pasteur/mnt/outputs/ppt/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103120"/>
            <a:ext cx="7863840" cy="2121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1737360"/>
            <a:ext cx="3108960" cy="443484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823960" y="1965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1 : 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23960" y="2331720"/>
            <a:ext cx="2651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(users) puede tener muchas tareas (tasks).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foránea user_id vive en tasks (@ManyToOne).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CASCADE: al borrar un usuario se borran automáticamente todas sus tareas.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priority y status se guardan como texto (EnumType.STRING), no como índice numérico.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PRINCIPAL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de tareas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09960" cy="859536"/>
          </a:xfrm>
          <a:prstGeom prst="roundRect">
            <a:avLst>
              <a:gd name="adj" fmla="val 8511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85216" cy="585216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019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9019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 POST /tasks/nueva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182880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validado; la tarea se asigna automáticamente al usuario logueado.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11109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944368"/>
            <a:ext cx="585216" cy="585216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443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926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/tasks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85292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solo las tareas del usuario autenticado, ordenadas por fecha de creación.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11109960" cy="859536"/>
          </a:xfrm>
          <a:prstGeom prst="roundRect">
            <a:avLst>
              <a:gd name="adj" fmla="val 8511"/>
            </a:avLst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968496"/>
            <a:ext cx="585216" cy="585216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6849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3950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29000" y="395020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 POST /tasks/editar/{id}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87705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la tarea pertenezca al usuario antes de permitir editarla.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55464"/>
            <a:ext cx="11109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992624"/>
            <a:ext cx="585216" cy="585216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9926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00200" y="49743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29000" y="497433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/tasks/eliminar/{id}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90118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con modal Bootstrap; verificación de propiedad del recurso.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DEL 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entidad Task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126480" cy="4434840"/>
          </a:xfrm>
          <a:prstGeom prst="roundRect">
            <a:avLst>
              <a:gd name="adj" fmla="val 1649"/>
            </a:avLst>
          </a:prstGeom>
          <a:solidFill>
            <a:srgbClr val="10182E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83664"/>
            <a:ext cx="5724144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@Table(name = "tasks")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Task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@Id @GeneratedValue(strategy = IDENTITY)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Long id;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@NotBlank(message = "El título no puede")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title;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@NotNull @FutureOrPresent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LocalDate dueDate;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@ManyToOne(fetch = FetchType.LAZY)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@JoinColumn(name = "user_id")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User user;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49440" y="1783080"/>
            <a:ext cx="4709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 + @Table mapean la clase a la tabla tasks de MySQL.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@NotBlank y @FutureOrPresent son validaciones de Jakarta Bean Validation, aplicadas antes de guardar.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@ManyToOne + @JoinColumn generan la columna user_id: cada tarea pertenece a un único usuario.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= LAZY evita cargar el usuario completo cada vez que se consulta una tarea, mejorando el rendimiento.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DEL 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Nadie edita tareas ajenas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709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protege rutas por rol, pero no sabe qué tarea pertenece a qué usuario.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TaskController.findOwned() añade esa verificación a nivel de recurso antes de editar o eliminar.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tarea no existe o pertenece a otro usuario, se rechaza y se muestra un mensaje de error.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se ejecuta en cada edición y eliminación, incluso si el atacante conoce el id exacto.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532120" y="1737360"/>
            <a:ext cx="6126480" cy="4434840"/>
          </a:xfrm>
          <a:prstGeom prst="roundRect">
            <a:avLst>
              <a:gd name="adj" fmla="val 1649"/>
            </a:avLst>
          </a:prstGeom>
          <a:solidFill>
            <a:srgbClr val="10182E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33288" y="1883664"/>
            <a:ext cx="5724144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Task findOwned(Long id,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UserDetails ud,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RedirectAttributes flash)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t = taskService.findById(id)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.orElse(null);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 == null || !t.getUser()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.getUsername()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.equals(ud.getUsername()))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flash.addFlashAttribute(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"errorMsg", "Tarea no encontrada.");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return null;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 stateless con JWT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usa HttpSession: cada petición se autentica desde cero a partir del token que la acompaña.</a:t>
            </a:r>
            <a:endParaRPr lang="en-US" sz="1300" dirty="0"/>
          </a:p>
        </p:txBody>
      </p:sp>
      <p:pic>
        <p:nvPicPr>
          <p:cNvPr id="5" name="Image 0" descr="/sessions/confident-bold-pasteur/mnt/outputs/ppt/jw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057400"/>
            <a:ext cx="1161288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7492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5F7F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algoritmo HS256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507492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5F7FB"/>
          </a:solidFill>
          <a:ln/>
        </p:spPr>
      </p:sp>
      <p:sp>
        <p:nvSpPr>
          <p:cNvPr id="9" name="Text 6"/>
          <p:cNvSpPr/>
          <p:nvPr/>
        </p:nvSpPr>
        <p:spPr>
          <a:xfrm>
            <a:off x="448056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username + roles + expiración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138160" y="507492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5F7FB"/>
          </a:solidFill>
          <a:ln/>
        </p:spPr>
      </p:sp>
      <p:sp>
        <p:nvSpPr>
          <p:cNvPr id="11" name="Text 8"/>
          <p:cNvSpPr/>
          <p:nvPr/>
        </p:nvSpPr>
        <p:spPr>
          <a:xfrm>
            <a:off x="827532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HMAC-SHA256 con jwt.secret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DEL 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JwtUtil — generación del token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126480" cy="4434840"/>
          </a:xfrm>
          <a:prstGeom prst="roundRect">
            <a:avLst>
              <a:gd name="adj" fmla="val 1649"/>
            </a:avLst>
          </a:prstGeom>
          <a:solidFill>
            <a:srgbClr val="10182E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83664"/>
            <a:ext cx="5724144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generateToken(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UserDetails userDetails)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List&lt;String&gt; roles = userDetails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.getAuthorities().stream()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.map(GrantedAuthority::getAuthority)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.collect(Collectors.toList());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Jwts.builder()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.subject(userDetails.getUsername())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.claim("roles", roles)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.issuedAt(new Date())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.expiration(new Date(now + expMs))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.signWith(secretKey)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.compact();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49440" y="1783080"/>
            <a:ext cx="4709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subject del token es el username; el claim "roles" evita volver a consultar la BD en cada petición.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signWith(secretKey) firma el token con la clave definida en jwt.secret (variable de entorno JWT_SECRET).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fija el vencimiento del token (por defecto 1 hora, configurable con JWT_EXPIRATION).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JwtUtil es el único componente de la aplicación que conoce la clave secreta.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Autorización en tres niveles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09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947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— Reglas HTTP en SecurityConfig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37360" y="23500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/admin/** exige ROLE_ADMIN · /tasks/** exige estar autenticado.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109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566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34107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— @PreAuthorize a nivel de método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3813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AdminController verifica el rol antes de ejecutar cualquier método, aunque falle el nivel 1.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109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5029200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48737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— Verificación de propiedad del recurso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527608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TaskController.findOwned() confirma que la tarea pertenezca al usuario autenticado.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INTERFAZ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unificada con Thymeleaf + Bootstrap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2082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20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025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pública para visitantes; resumen de estadísticas para usuarios autenticados (misma URL, contenido condicional).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6519672" y="202082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020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20025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Tareas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9672" y="265176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tarjetas resumen (Total, Pendientes, En Progreso, Completadas) y modal de confirmación al eliminar.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5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16966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1513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Tarea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04672" y="480060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formulario sirve para crear y editar, con validación visual inline y contador de caracteres.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5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9672" y="416966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41513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19672" y="480060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duales de usuarios y tareas con métricas globales, exclusivo para el rol ADMIN.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Fragmentos reutilizables (navbar, footer, alerts, head) garantizan una identidad visual consistente en toda la aplicación, con diseño 100% responsivo (Bootstrap grid).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85900" y="2377440"/>
            <a:ext cx="731520" cy="7315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+ cd task-manager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2743200"/>
            <a:ext cx="192024" cy="0"/>
          </a:xfrm>
          <a:prstGeom prst="line">
            <a:avLst/>
          </a:prstGeom>
          <a:noFill/>
          <a:ln w="25400">
            <a:solidFill>
              <a:srgbClr val="547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0540" y="2377440"/>
            <a:ext cx="731520" cy="7315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43205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3749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 y data.sql sobre MySQL 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07608" y="2743200"/>
            <a:ext cx="192024" cy="0"/>
          </a:xfrm>
          <a:prstGeom prst="line">
            <a:avLst/>
          </a:prstGeom>
          <a:noFill/>
          <a:ln w="25400">
            <a:solidFill>
              <a:srgbClr val="547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5180" y="2377440"/>
            <a:ext cx="731520" cy="7315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71551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3749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DB_URL, DB_USERNAME, DB_PASSWORD, JWT_SECRET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42248" y="2743200"/>
            <a:ext cx="192024" cy="0"/>
          </a:xfrm>
          <a:prstGeom prst="line">
            <a:avLst/>
          </a:prstGeom>
          <a:noFill/>
          <a:ln w="25400">
            <a:solidFill>
              <a:srgbClr val="547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89820" y="2377440"/>
            <a:ext cx="731520" cy="7315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99898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5256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52560" y="3749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spring-boot:run → puerto 8081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109960" cy="1554480"/>
          </a:xfrm>
          <a:prstGeom prst="roundRect">
            <a:avLst>
              <a:gd name="adj" fmla="val 5882"/>
            </a:avLst>
          </a:prstGeom>
          <a:solidFill>
            <a:srgbClr val="10182E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credencial va escrita en el código: la URL de la base de datos, el usuario, la contraseña y la clave JWT se leen de variables de entorno del sistema operativo.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476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acceso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/ ADMIN)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9476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476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5508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externalizadas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7830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9476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8972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cifradas con BCrypt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 centraliza la gestión de tareas del equipo eliminando la dependencia de hojas de cálculo manuales.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en capas y la separación Controller–Service–Repository facilitan el mantenimiento y la escalabilidad futura.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se implementó con defensa en profundidad: HTTP + método + propiedad del recurso, no un único punto de control.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E3E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3E56B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Morales Bueno, Herbert   ·   Espinoza Navarro, Leyla   ·   Garcia Huaman, Jose Gabriel   ·   Quispe Gamarra, Luis Alberto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 — Grupo N.º 10 — Marcos de Desarrollo Web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2026-07-16T06:37:56Z</dcterms:created>
  <dcterms:modified xsi:type="dcterms:W3CDTF">2026-07-16T06:37:56Z</dcterms:modified>
</cp:coreProperties>
</file>